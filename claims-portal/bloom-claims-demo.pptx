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1B75BB">
              <a:alpha val="60000"/>
            </a:srgbClr>
          </a:solidFill>
          <a:ln w="12700">
            <a:solidFill>
              <a:srgbClr val="1B75BB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>
                    <a:alpha val="70000"/>
                  </a:srgbClr>
                </a:solidFill>
              </a:rPr>
              <a:t>DXC Technology  ·  Claims Management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Claims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DDEE"/>
                </a:solidFill>
              </a:rPr>
              <a:t>AI-Powered Life &amp; Annuity Claims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DDEE"/>
                </a:solidFill>
              </a:rPr>
              <a:t>Process faster. Detect smarter. Settle confidently.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2103120" cy="347472"/>
          </a:xfrm>
          <a:prstGeom prst="rect">
            <a:avLst>
              <a:gd name="adj" fmla="val 39474"/>
            </a:avLst>
          </a:prstGeom>
          <a:solidFill>
            <a:srgbClr val="1B75BB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AI-Driven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61488" y="4846320"/>
            <a:ext cx="2103120" cy="347472"/>
          </a:xfrm>
          <a:prstGeom prst="rect">
            <a:avLst>
              <a:gd name="adj" fmla="val 39474"/>
            </a:avLst>
          </a:prstGeom>
          <a:solidFill>
            <a:srgbClr val="1B75BB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STP Auto-Approval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74336" y="4846320"/>
            <a:ext cx="2103120" cy="347472"/>
          </a:xfrm>
          <a:prstGeom prst="rect">
            <a:avLst>
              <a:gd name="adj" fmla="val 39474"/>
            </a:avLst>
          </a:prstGeom>
          <a:solidFill>
            <a:srgbClr val="1B75BB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Fraud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87184" y="4846320"/>
            <a:ext cx="2103120" cy="347472"/>
          </a:xfrm>
          <a:prstGeom prst="rect">
            <a:avLst>
              <a:gd name="adj" fmla="val 39474"/>
            </a:avLst>
          </a:prstGeom>
          <a:solidFill>
            <a:srgbClr val="1B75BB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📄 Document IDP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00032" y="4846320"/>
            <a:ext cx="2103120" cy="347472"/>
          </a:xfrm>
          <a:prstGeom prst="rect">
            <a:avLst>
              <a:gd name="adj" fmla="val 39474"/>
            </a:avLst>
          </a:prstGeom>
          <a:solidFill>
            <a:srgbClr val="1B75BB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ServiceNow Native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</a:rPr>
              <a:t>🌸 BLOOM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THE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Claims Processing Is 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617720" y="731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5BB"/>
                </a:solidFill>
              </a:rPr>
              <a:t>Broken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0020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00200"/>
            <a:ext cx="54864" cy="205740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⏱  Slow Cycle Times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20–30 days per claim. Manual reviews bottleneck payment timelines and frustrate beneficiaries at their most vulnerable.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160020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9392" y="1600200"/>
            <a:ext cx="54864" cy="205740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🔍  Reactive Fraud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62272" y="2148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Fraud caught after-the-fact. No AI scoring, no proactive anomaly alerts until money has already moved.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93024" y="160020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3024" y="1600200"/>
            <a:ext cx="54864" cy="205740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📋  Manual Document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75904" y="2148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Examiners re-key data from death certificates, W-9s, and claim forms — error-prone and time-consuming.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40480"/>
            <a:ext cx="54864" cy="205740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77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🏚  Siloed Systems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Policy admin, claims, tax engine, and document management disconnected — constant re-keying, version conflicts.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38404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79392" y="3840480"/>
            <a:ext cx="54864" cy="205740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3977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📊  No Risk Visibility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62272" y="43891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Managers lack real-time portfolio risk insight until month-end reports — by then it's too late to act.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3024" y="38404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93024" y="3840480"/>
            <a:ext cx="54864" cy="205740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3977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💸  Payment Leakage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75904" y="43891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Over-settlements, unrecovered subrogation, and missed related policies cost carriers millions annually.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One Platform.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921E"/>
                </a:solidFill>
              </a:rPr>
              <a:t>End-to-End.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EE"/>
                </a:solidFill>
              </a:rPr>
              <a:t>Bloom Claims Assistant unifies the entire claims lifecycle — from FNOL to payment — with AI intelligence at every step.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3044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Claims Intelligence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Risk scoring, anomaly detection, next best actions, and analyst chat on every claim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24528" y="288036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10328" y="3044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STP Automation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07408" y="3520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40% of claims auto-approved in 7–10 days with near-zero manual touchpoints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83296" y="288036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69096" y="3044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 IDP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6176" y="3520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Auto-classify, extract, and validate documents with per-field confidence scoring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28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4828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Claim Guardian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Leakage detection, investment recovery, audit findings, and compliance tracking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24528" y="466344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4828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10328" y="4828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07408" y="53035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Tailored dashboards for examiners, supervisors, and risk managers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83296" y="466344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0456" y="4828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769096" y="4828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ServiceNow Native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66176" y="53035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OAuth 2.0 bi-directional sync — FNOL, work notes, AI findings — all real 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ROLE-BASED DASHBOARDS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Every Role Gets 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86200" y="731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75BB"/>
                </a:solidFill>
              </a:rPr>
              <a:t>Exactly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 What They Need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3749040" cy="51206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08760"/>
            <a:ext cx="3749040" cy="64008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75BB"/>
                </a:solidFill>
              </a:rPr>
              <a:t>CLAIMS EXAMINER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9019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Sarah Johnson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Open &amp; closed claims inventory (9 workflow buckets)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9443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Multi-attribute filtering &amp; real-time search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11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Claims Workbench with 12-tab detail 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0782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STP vs. manual routing indicator per claim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Requirements tracker &amp; document upload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AI Insights panel &amp; risk score (0-100)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7790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Next Best Actions &amp; Claim Guardian tab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06824" y="1508760"/>
            <a:ext cx="3749040" cy="51206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06824" y="1508760"/>
            <a:ext cx="3749040" cy="64008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6921E"/>
                </a:solidFill>
              </a:rPr>
              <a:t>SUPERVISOR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43984" y="19019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Taylor Brooks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43984" y="23774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Team inventory with KPI cards overlay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43984" y="29443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Handler performance leaderboard (YTD metrics)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43984" y="3511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Cycle time, approval rate, STP % at a glance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43984" y="40782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Inventory by phase &amp; workflow bucket drill-down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43984" y="4645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SLA monitoring &amp; at-risk claim flags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43984" y="5212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Quality review &amp; exception approvals (SIU)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43984" y="57790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Claims paid YTD &amp; denial rate tracking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93608" y="1508760"/>
            <a:ext cx="3749040" cy="51206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93608" y="1508760"/>
            <a:ext cx="3749040" cy="640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0768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1FA2"/>
                </a:solidFill>
              </a:rPr>
              <a:t>RISK MANAGER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30768" y="19019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Morgan Reeves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30768" y="23774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Enterprise KPI overview — YTD volumes &amp; amounts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30768" y="29443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Monthly claims &amp; payment trend charts (6 months)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30768" y="3511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4×4 Impact × Probability Risk Matrix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30768" y="40782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Coverage Gaps analysis with exposure amounts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30768" y="4645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Risk Heatmap — risk level vs. claim value grid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30768" y="5212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Disposition breakdown (STP auto vs. manual)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30768" y="57790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• Fraud clusters &amp; SLA breach visibility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AI-POWERED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Intelligence Built Into 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57800" y="731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75BB"/>
                </a:solidFill>
              </a:rPr>
              <a:t>Every Claim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184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Risk Scoring Engine (0–100)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8424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Analyzes anomalies, beneficiary verification, death records, document authenticity, and policy flags. Low / Medium / High / Critical output.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54864" cy="109728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4320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Anomaly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21868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Proactively flags beneficiary mismatches, address discrepancies, timing irregularities near death, duplicate claim patterns, and unusual amounts.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54864" cy="109728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97764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Next Best Actions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45312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Prioritized AI recommendations by urgency (Immediate / This Week / This Month) with reasoning for each suggested action.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54864" cy="1097280"/>
          </a:xfrm>
          <a:prstGeom prst="rect">
            <a:avLst/>
          </a:prstGeom>
          <a:solidFill>
            <a:srgbClr val="37A526"/>
          </a:solidFill>
          <a:ln w="12700">
            <a:solidFill>
              <a:srgbClr val="37A5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521208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5321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5303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Claims Analyst Chat (GPT-4o)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568756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Ask anything — "Why flagged?", "What docs missing?" — and get structured AI answers with full claim context.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5212080"/>
            <a:ext cx="54864" cy="10972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50876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595B"/>
                </a:solidFill>
              </a:rPr>
              <a:t>AI RISK SCORE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75BB"/>
                </a:solidFill>
              </a:rPr>
              <a:t>73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7589520" y="2057400"/>
            <a:ext cx="1645920" cy="347472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921E"/>
                </a:solidFill>
              </a:rPr>
              <a:t>HIGH RISK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3 High · 2 Medium · 1 Low alerts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36118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E8F5E3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0" y="3703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A526"/>
                </a:solidFill>
              </a:rPr>
              <a:t>✅  Priority Action #1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409651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Initiate SIU referral — beneficiary change detected 11 days before insured's date of death.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709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Urgency: Immediate  ·  Category: Investigation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53492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37960" y="5440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595B"/>
                </a:solidFill>
              </a:rPr>
              <a:t>Avg Cycle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37960" y="5715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75BB"/>
                </a:solidFill>
              </a:rPr>
              <a:t>18 days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863840" y="5440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595B"/>
                </a:solidFill>
              </a:rPr>
              <a:t>Fraud Rate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5715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02E2E"/>
                </a:solidFill>
              </a:rPr>
              <a:t>4.2%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189720" y="5440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595B"/>
                </a:solidFill>
              </a:rPr>
              <a:t>Avg Settlement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89720" y="5715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A526"/>
                </a:solidFill>
              </a:rPr>
              <a:t>$187K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0515600" y="5440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595B"/>
                </a:solidFill>
              </a:rPr>
              <a:t>Subrogation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5715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921E"/>
                </a:solidFill>
              </a:rPr>
              <a:t>8.1%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595B"/>
                </a:solidFill>
              </a:rPr>
              <a:t>Similar Claims Cohort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STRAIGHT-THROUGH PROCESSING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20+ Days to 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731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21E"/>
                </a:solidFill>
              </a:rPr>
              <a:t>7–10 Days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99"/>
                </a:solidFill>
              </a:rPr>
              <a:t>STANDARD CLAIMS LIFECYCLE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1B75BB">
              <a:alpha val="3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FNOL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82880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90472" y="18288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1B75BB">
              <a:alpha val="3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04872" y="182880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23744" y="18288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1B75BB">
              <a:alpha val="3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Requirements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8144" y="182880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57016" y="18288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1B75BB">
              <a:alpha val="3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1416" y="182880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0288" y="18288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1B75BB">
              <a:alpha val="3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Decision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04688" y="182880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18288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1B75BB">
              <a:alpha val="3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23591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99"/>
                </a:solidFill>
              </a:rPr>
              <a:t>⏱  Average 20–30 days · 6 manual touchpoints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99"/>
                </a:solidFill>
              </a:rPr>
              <a:t>⚡  STP FAST TRACK LIFECYCLE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08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FNOL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3108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921E"/>
                </a:solidFill>
              </a:rPr>
              <a:t>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0" y="310896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3108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STP Eval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97480" y="3108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921E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310896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3108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86200" y="3108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921E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23360" y="310896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108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3108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921E"/>
                </a:solidFill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12080" y="310896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3108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Closed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36393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99"/>
                </a:solidFill>
              </a:rPr>
              <a:t>⚡  Average 7–10 days · Near-zero manual touchpoints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6520" y="1508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8288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6921E"/>
                </a:solidFill>
              </a:rPr>
              <a:t>40%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6446520" y="27706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ABBCC"/>
                </a:solidFill>
              </a:rPr>
              <a:t>STP Eligible Claims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235440" y="1508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18288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7A526"/>
                </a:solidFill>
              </a:rPr>
              <a:t>60%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9235440" y="27706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ABBCC"/>
                </a:solidFill>
              </a:rPr>
              <a:t>Faster Cycle Time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46520" y="37490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069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75BB"/>
                </a:solidFill>
              </a:rPr>
              <a:t>7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6446520" y="50109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ABBCC"/>
                </a:solidFill>
              </a:rPr>
              <a:t>Days Avg Close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35440" y="37490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4069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6921E"/>
                </a:solidFill>
              </a:rPr>
              <a:t>Auto</a:t>
            </a:r>
            <a:endParaRPr lang="en-US" sz="4800" dirty="0"/>
          </a:p>
        </p:txBody>
      </p:sp>
      <p:sp>
        <p:nvSpPr>
          <p:cNvPr id="55" name="Text 53"/>
          <p:cNvSpPr/>
          <p:nvPr/>
        </p:nvSpPr>
        <p:spPr>
          <a:xfrm>
            <a:off x="9235440" y="50109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ABBCC"/>
                </a:solidFill>
              </a:rPr>
              <a:t>Req. Waiving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4069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STP Qualification Criteria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✓  Coverage active at date of death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48188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✓  Clear liability determination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520293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✓  LexisNexis 3-point death match verified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558698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✓  No fraud indicators or anomaly flags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59710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</a:rPr>
              <a:t>✓  Beneficiary data matches Policy Admin records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DOCUMENT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IDP + Beneficiary 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77640" y="731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75BB"/>
                </a:solidFill>
              </a:rPr>
              <a:t>Analyzer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08760"/>
            <a:ext cx="54864" cy="109728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184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Auto-Classification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8424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Death certs, claimant statements, W-9s, APS, police reports — automatically categorized on upload with no manual selection.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43200"/>
            <a:ext cx="54864" cy="109728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Field Extraction + Confidence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21868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Name, SSN, DOB, address, relationship extracted per field with 0–100% AI confidence. Manual override for low-confidence fields.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54864" cy="1097280"/>
          </a:xfrm>
          <a:prstGeom prst="rect">
            <a:avLst/>
          </a:prstGeom>
          <a:solidFill>
            <a:srgbClr val="37A526"/>
          </a:solidFill>
          <a:ln w="12700">
            <a:solidFill>
              <a:srgbClr val="37A5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Beneficiary Analyzer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45312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Extracted data vs. Policy Admin records — discrepancies highlighted. LexisNexis address &amp; deceased status verification built in.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521208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5212080"/>
            <a:ext cx="54864" cy="1097280"/>
          </a:xfrm>
          <a:prstGeom prst="rect">
            <a:avLst/>
          </a:prstGeom>
          <a:solidFill>
            <a:srgbClr val="D02E2E"/>
          </a:solidFill>
          <a:ln w="12700">
            <a:solidFill>
              <a:srgbClr val="D0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321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5303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Staged Document Preview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568756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Realistic mockups of death certificates, W-9, IDs, and APS forms with extracted field overlays for visual review and sign-off.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150876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6276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8595B"/>
                </a:solidFill>
              </a:rPr>
              <a:t>BENEFICIARY ANALYZER — EXTRACTED VS. ADMIN RECORDS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92240" y="1993392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65392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59168" y="20391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Elizabeth Jones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59168" y="2340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Matched to Policy Admin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41280" y="2103120"/>
            <a:ext cx="1280160" cy="347472"/>
          </a:xfrm>
          <a:prstGeom prst="rect">
            <a:avLst/>
          </a:prstGeom>
          <a:solidFill>
            <a:srgbClr val="37A5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98%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274320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65392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59168" y="2788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312 Oak St  → 318 Oak Ave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59168" y="309067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921E"/>
                </a:solidFill>
              </a:rPr>
              <a:t>Discrepancy Detected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41280" y="2852928"/>
            <a:ext cx="1280160" cy="347472"/>
          </a:xfrm>
          <a:prstGeom prst="rect">
            <a:avLst/>
          </a:prstGeom>
          <a:solidFill>
            <a:srgbClr val="F692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71%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3493008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65392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59168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1958-06-15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59168" y="38404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LexisNexis Verified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41280" y="3602736"/>
            <a:ext cx="1280160" cy="347472"/>
          </a:xfrm>
          <a:prstGeom prst="rect">
            <a:avLst/>
          </a:prstGeom>
          <a:solidFill>
            <a:srgbClr val="37A5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96%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92240" y="4242816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65392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59168" y="42885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Spouse — 100% allocation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059168" y="45902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Relationship Confirmed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241280" y="4352544"/>
            <a:ext cx="1280160" cy="347472"/>
          </a:xfrm>
          <a:prstGeom prst="rect">
            <a:avLst/>
          </a:prstGeom>
          <a:solidFill>
            <a:srgbClr val="37A5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94%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55080" y="50749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92240" y="5166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5BB"/>
                </a:solidFill>
              </a:rPr>
              <a:t>📄  Documents Supported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92240" y="5577840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Death Certificate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18120" y="5577840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W-9 Form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144000" y="5577840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Claimant Statement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469880" y="5577840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APS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92240" y="5980176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Police Report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18120" y="5980176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Gov't ID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144000" y="5980176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Toxicology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469880" y="5980176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Autopsy Report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C4E"/>
          </a:solidFill>
          <a:ln w="12700">
            <a:solidFill>
              <a:srgbClr val="162C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CLAIM GUARDIAN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Claim Guardian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804672"/>
            <a:ext cx="2926080" cy="438912"/>
          </a:xfrm>
          <a:prstGeom prst="rect">
            <a:avLst/>
          </a:prstGeom>
          <a:solidFill>
            <a:srgbClr val="F692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Intelligence 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5669280" cy="2468880"/>
          </a:xfrm>
          <a:prstGeom prst="roundRect">
            <a:avLst>
              <a:gd name="adj" fmla="val 370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08760"/>
            <a:ext cx="5669280" cy="54864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459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Next Best 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AI-ranked action items by priority &amp; urgency. Each action includes rationale, category (Documentation / Investigation / Payment / Compliance), and urgency level (Immediate / This Week / This Month).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D02E2E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363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🔴  P1: Initiate SIU referral — beneficiary change near death 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F6921E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47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🟠  P2: Request updated beneficiary designation from policy admin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9632" y="1508760"/>
            <a:ext cx="5669280" cy="2468880"/>
          </a:xfrm>
          <a:prstGeom prst="roundRect">
            <a:avLst>
              <a:gd name="adj" fmla="val 370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508760"/>
            <a:ext cx="5669280" cy="54864"/>
          </a:xfrm>
          <a:prstGeom prst="rect">
            <a:avLst/>
          </a:prstGeom>
          <a:solidFill>
            <a:srgbClr val="37A526"/>
          </a:solidFill>
          <a:ln w="12700">
            <a:solidFill>
              <a:srgbClr val="37A5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6459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💸  Leakage &amp; Recovery 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21031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Quantifies financial exposure across payment leakage, unrecovered subrogation, and over-settlement risk with estimated recovery amounts and probability scores.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82512" y="3063240"/>
            <a:ext cx="2514600" cy="685800"/>
          </a:xfrm>
          <a:prstGeom prst="roundRect">
            <a:avLst>
              <a:gd name="adj" fmla="val 9333"/>
            </a:avLst>
          </a:prstGeom>
          <a:solidFill>
            <a:srgbClr val="1B75BB">
              <a:alpha val="3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0815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921E"/>
                </a:solidFill>
              </a:rPr>
              <a:t>$43K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82512" y="346557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Leakage Exposure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25712" y="3063240"/>
            <a:ext cx="2514600" cy="685800"/>
          </a:xfrm>
          <a:prstGeom prst="roundRect">
            <a:avLst>
              <a:gd name="adj" fmla="val 9333"/>
            </a:avLst>
          </a:prstGeom>
          <a:solidFill>
            <a:srgbClr val="1B75BB">
              <a:alpha val="3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30815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A526"/>
                </a:solidFill>
              </a:rPr>
              <a:t>$18K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25712" y="346557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Recovery Opp.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5669280" cy="2468880"/>
          </a:xfrm>
          <a:prstGeom prst="roundRect">
            <a:avLst>
              <a:gd name="adj" fmla="val 370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60520"/>
            <a:ext cx="5669280" cy="54864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97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Automated Audit Findings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7548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Processing compliance tracking — missed workflow steps, timeline deviations, requirement gaps — with severity-coded open/closed status on every claim. Full regulatory audit trail.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4160520"/>
            <a:ext cx="5669280" cy="2468880"/>
          </a:xfrm>
          <a:prstGeom prst="roundRect">
            <a:avLst>
              <a:gd name="adj" fmla="val 3704"/>
            </a:avLst>
          </a:prstGeom>
          <a:solidFill>
            <a:srgbClr val="1B75BB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4160520"/>
            <a:ext cx="566928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4297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 Investment Recovery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82512" y="47548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Identifies third-party subrogation opportunities (MVA cases), policy rescission scenarios, and overpayment recovery — with estimated recovery amounts and likelihood scores.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ENTERPRISE INTEGRATIONS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Built for the 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731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75BB"/>
                </a:solidFill>
              </a:rPr>
              <a:t>Enterprise Ecosystem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0876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17099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ServiceNow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Bi-directional OAuth 2.0 sync. FNOL data, work notes, anomaly results, and beneficiary analysis stored natively in ServiceNow.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OAuth 2.0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FNOL 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Live Updates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50876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74920" y="17099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LexisNexis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3-point death verification (SSN, name, DOB). Address validation. Enables STP fast-track routing with confirmed match.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A526"/>
                </a:solidFill>
              </a:rPr>
              <a:t>Death Verify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356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A526"/>
                </a:solidFill>
              </a:rPr>
              <a:t>Address Check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A526"/>
                </a:solidFill>
              </a:rPr>
              <a:t>STP Enabler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75320" y="150876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52560" y="17099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Policy Admin (SOR)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Real-time policy in-force verification, beneficiary admin records, premium status — authoritative system of record.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In-Force Check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Bene Records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352044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Real-time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097280" y="4315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Tax Engine (cmA)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Federal &amp; state withholding calculations, automated 1099-R generation, GL posting for accounts payable reconciliation.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921E"/>
                </a:solidFill>
              </a:rPr>
              <a:t>1099-R Gen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4592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921E"/>
                </a:solidFill>
              </a:rPr>
              <a:t>Fed + State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3464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921E"/>
                </a:solidFill>
              </a:rPr>
              <a:t>GL Posting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411480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4805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074920" y="4315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VPMS (PMI)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48056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State-specific Post Mortem Interest rates. Simple interest from date of death to settlement with full validation.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3484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10 States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PMI Calc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1228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5BB"/>
                </a:solidFill>
              </a:rPr>
              <a:t>Accrual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75320" y="411480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45820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9052560" y="4315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GPT-4o (OpenAI)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5820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Claims Analyst Chat and AI Insights powered by GPT-4o with full claim context injection and structured reasoning output.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1FA2"/>
                </a:solidFill>
              </a:rPr>
              <a:t>AI Chat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60120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1FA2"/>
                </a:solidFill>
              </a:rPr>
              <a:t>Claim Context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126480"/>
            <a:ext cx="1143000" cy="274320"/>
          </a:xfrm>
          <a:prstGeom prst="rect">
            <a:avLst/>
          </a:prstGeom>
          <a:solidFill>
            <a:srgbClr val="EBF4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1FA2"/>
                </a:solidFill>
              </a:rPr>
              <a:t>Markdown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BUSINESS 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777240"/>
            <a:ext cx="1219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Measurable Impact from Day One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824728" y="141732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002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60%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CEEFF"/>
                </a:solidFill>
              </a:rPr>
              <a:t>Faster Cycle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783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40%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CEEFF"/>
                </a:solidFill>
              </a:rPr>
              <a:t>STP Auto-Approval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783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95%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172200" y="2743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CEEFF"/>
                </a:solidFill>
              </a:rPr>
              <a:t>Document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6002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783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7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9052560" y="2743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CEEFF"/>
                </a:solidFill>
              </a:rPr>
              <a:t>Days Avg STP Closure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37947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221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📉 Cost Reduction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2976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FF"/>
                </a:solidFill>
              </a:rPr>
              <a:t>Fewer manual touchpoints and STP automation reduce per-claim processing cost by up to 45%. Examiner capacity improves significantly for high-complexity claims.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657600"/>
            <a:ext cx="37947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8221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Fraud Prevention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2976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FF"/>
                </a:solidFill>
              </a:rPr>
              <a:t>Proactive AI risk scoring detects fraud patterns before payment. Real-time anomaly alerts protect millions in annual financial exposure.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75320" y="3657600"/>
            <a:ext cx="37947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8221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😊 Beneficiary Experience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2976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FF"/>
                </a:solidFill>
              </a:rPr>
              <a:t>Faster settlements reduce beneficiary follow-up calls and regulatory complaints — improving NPS and maintaining state insurance department standing.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WHY DXC BLOOM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31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🌸 Bloom Claims Assistant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Why 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81328" y="731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75BB"/>
                </a:solidFill>
              </a:rPr>
              <a:t>Bloom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4612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 by DXC Technology?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08760"/>
            <a:ext cx="56692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1848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75BB">
                    <a:alpha val="35000"/>
                  </a:srgbClr>
                </a:solidFill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261872" y="16459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Purpose-Built for L&amp;A Carriers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0574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Designed ground-up for Life &amp; Annuity — not generic. Supports death, maturity, surrender, withdrawal, and disability claim types with carrier-specific workflows.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6692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61848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75BB">
                    <a:alpha val="35000"/>
                  </a:srgbClr>
                </a:solidFill>
              </a:rPr>
              <a:t>02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205472" y="16459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ServiceNow Ecosystem Native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05472" y="20574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Built by DXC on the world's leading enterprise platform. FNOL, work notes, AI findings all sync natively. No middleware, no re-keying, no integration overhead.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56692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35584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75BB">
                    <a:alpha val="35000"/>
                  </a:srgbClr>
                </a:solidFill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261872" y="33832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Enterprise-Grade Data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72" y="3794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Full lifecycle tracking: multi-policy aggregation, nested beneficiaries, requirements at claim/policy/party levels, and complete system-of-record timeline.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3246120"/>
            <a:ext cx="56692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335584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75BB">
                    <a:alpha val="35000"/>
                  </a:srgbClr>
                </a:solidFill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205472" y="33832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Regulatory &amp; Compliance 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05472" y="3794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State-specific PMI rates, federal/state tax withholding, 1099-R auto-generation, NIGO tracking, and requirement satisfaction audit trails built-in.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983480"/>
            <a:ext cx="56692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50932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75BB">
                    <a:alpha val="35000"/>
                  </a:srgbClr>
                </a:solidFill>
              </a:rPr>
              <a:t>05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1261872" y="51206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Halstack Design System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61872" y="5532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Built on DXC's enterprise Halstack React library — WCAG accessible, theme-configurable, responsive across desktop, tablet, and iPad layouts.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4983480"/>
            <a:ext cx="56692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9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46520" y="50932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75BB">
                    <a:alpha val="35000"/>
                  </a:srgbClr>
                </a:solidFill>
              </a:rPr>
              <a:t>06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7205472" y="51206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L&amp;A + P&amp;C Flexibility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05472" y="5532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95B"/>
                </a:solidFill>
              </a:rPr>
              <a:t>Single platform for both Life &amp; Annuity and Property &amp; Casualty claims — configurable requirements, claim types, and workflow rules per product line.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Ready to Transform Your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1508760"/>
            <a:ext cx="1219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921E"/>
                </a:solidFill>
              </a:rPr>
              <a:t>Claims Operations?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824728" y="2176272"/>
            <a:ext cx="548640" cy="45720"/>
          </a:xfrm>
          <a:prstGeom prst="rect">
            <a:avLst/>
          </a:prstGeom>
          <a:solidFill>
            <a:srgbClr val="F6921E"/>
          </a:solidFill>
          <a:ln w="12700">
            <a:solidFill>
              <a:srgbClr val="F692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377440"/>
            <a:ext cx="9445752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4231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921E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194560" y="2468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Guided 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880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FF"/>
                </a:solidFill>
              </a:rPr>
              <a:t>Full walkthrough of all personas — examiner, supervisor, risk manager — using real claim scenarios from your environment.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657600"/>
            <a:ext cx="9445752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7033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921E"/>
                </a:solidFill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94560" y="37490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Integration Assessment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4160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FF"/>
                </a:solidFill>
              </a:rPr>
              <a:t>DXC team reviews your ServiceNow environment, policy admin system, and data model for fit analysis and integration roadmap.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937760"/>
            <a:ext cx="9445752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98348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921E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94560" y="50292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Pilot Program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5440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FF"/>
                </a:solidFill>
              </a:rPr>
              <a:t>Deploy Bloom Claims Assistant against a defined claim cohort — measure STP rates, cycle times, and fraud detection in production conditions.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🌸 Bloom Claims Assistant  |  Built by DXC Technology  |  Life &amp; Annuity · Property &amp; Casualty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2026-03-05T13:07:11Z</dcterms:created>
  <dcterms:modified xsi:type="dcterms:W3CDTF">2026-03-05T13:07:11Z</dcterms:modified>
</cp:coreProperties>
</file>